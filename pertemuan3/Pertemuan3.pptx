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5a81444a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5a81444a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5a81444a1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5a81444a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5a81444a1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5a81444a1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5a81444a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5a81444a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5a81444a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5a81444a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5a81444a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5a81444a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5a81444a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5a81444a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5a81444a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5a81444a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5a81444a1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5a81444a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5a81444a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5a81444a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5a81444a1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5a81444a1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9keznf6QDB8" TargetMode="Externa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3. Kendali melalui TCP/IP - UDP</a:t>
            </a:r>
            <a:endParaRPr/>
          </a:p>
        </p:txBody>
      </p:sp>
      <p:sp>
        <p:nvSpPr>
          <p:cNvPr id="86" name="Google Shape;86;p13"/>
          <p:cNvSpPr txBox="1"/>
          <p:nvPr>
            <p:ph idx="1" type="subTitle"/>
          </p:nvPr>
        </p:nvSpPr>
        <p:spPr>
          <a:xfrm>
            <a:off x="598100" y="2715975"/>
            <a:ext cx="8222100" cy="19938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GB"/>
              <a:t>Berkenalan dengan konsep komunikasi socket di ESP</a:t>
            </a:r>
            <a:endParaRPr/>
          </a:p>
          <a:p>
            <a:pPr indent="-361950" lvl="0" marL="457200" rtl="0" algn="l">
              <a:spcBef>
                <a:spcPts val="0"/>
              </a:spcBef>
              <a:spcAft>
                <a:spcPts val="0"/>
              </a:spcAft>
              <a:buSzPts val="2100"/>
              <a:buChar char="●"/>
            </a:pPr>
            <a:r>
              <a:rPr lang="en-GB"/>
              <a:t>Mengirim perintah pergerakan mobil RC melalui TCP/IP UDP</a:t>
            </a:r>
            <a:endParaRPr/>
          </a:p>
          <a:p>
            <a:pPr indent="-361950" lvl="0" marL="457200" rtl="0" algn="l">
              <a:spcBef>
                <a:spcPts val="0"/>
              </a:spcBef>
              <a:spcAft>
                <a:spcPts val="0"/>
              </a:spcAft>
              <a:buSzPts val="2100"/>
              <a:buChar char="●"/>
            </a:pPr>
            <a:r>
              <a:rPr lang="en-GB"/>
              <a:t>Berkenalan dengan Remote via aplikasi Android &amp; Python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Bersama praktisi elektronika Nyoman Yudi Kurniawan ST</a:t>
            </a:r>
            <a:endParaRPr/>
          </a:p>
        </p:txBody>
      </p:sp>
      <p:pic>
        <p:nvPicPr>
          <p:cNvPr id="87" name="Google Shape;87;p13"/>
          <p:cNvPicPr preferRelativeResize="0"/>
          <p:nvPr/>
        </p:nvPicPr>
        <p:blipFill>
          <a:blip r:embed="rId3">
            <a:alphaModFix/>
          </a:blip>
          <a:stretch>
            <a:fillRect/>
          </a:stretch>
        </p:blipFill>
        <p:spPr>
          <a:xfrm>
            <a:off x="733325" y="487275"/>
            <a:ext cx="2366100" cy="8388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206750" y="345675"/>
            <a:ext cx="35739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GB" sz="2160"/>
              <a:t>Sementara itu di mars…</a:t>
            </a:r>
            <a:endParaRPr sz="2160"/>
          </a:p>
        </p:txBody>
      </p:sp>
      <p:sp>
        <p:nvSpPr>
          <p:cNvPr id="93" name="Google Shape;93;p14"/>
          <p:cNvSpPr txBox="1"/>
          <p:nvPr>
            <p:ph idx="1" type="body"/>
          </p:nvPr>
        </p:nvSpPr>
        <p:spPr>
          <a:xfrm>
            <a:off x="334050" y="1018325"/>
            <a:ext cx="2869200" cy="3918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1400"/>
              <a:t>Wahana penjelajah Mars berkomunikasi dengan Bumi terutama melalui sistem relai menggunakan sinyal radio UHF ke wahana pengorbit Mars (Odyssey, MRO, MAVEN), yang kemudian mengirimkan data melalui antena gain tinggi ke Deep Space Network (DSN) NASA di Bumi. Metode ini memberikan kecepatan data yang lebih cepat, meskipun wahana penjelajah juga dapat mengirimkan data langsung ke Bumi dengan kecepatan lebih rendah menggunakan frekuensi X-band.</a:t>
            </a:r>
            <a:endParaRPr sz="1400"/>
          </a:p>
        </p:txBody>
      </p:sp>
      <p:pic>
        <p:nvPicPr>
          <p:cNvPr id="94" name="Google Shape;94;p14"/>
          <p:cNvPicPr preferRelativeResize="0"/>
          <p:nvPr/>
        </p:nvPicPr>
        <p:blipFill>
          <a:blip r:embed="rId3">
            <a:alphaModFix/>
          </a:blip>
          <a:stretch>
            <a:fillRect/>
          </a:stretch>
        </p:blipFill>
        <p:spPr>
          <a:xfrm>
            <a:off x="3312150" y="625638"/>
            <a:ext cx="5715000" cy="4067175"/>
          </a:xfrm>
          <a:prstGeom prst="rect">
            <a:avLst/>
          </a:prstGeom>
          <a:noFill/>
          <a:ln>
            <a:noFill/>
          </a:ln>
        </p:spPr>
      </p:pic>
      <p:sp>
        <p:nvSpPr>
          <p:cNvPr id="95" name="Google Shape;95;p14"/>
          <p:cNvSpPr/>
          <p:nvPr/>
        </p:nvSpPr>
        <p:spPr>
          <a:xfrm>
            <a:off x="3312150" y="3974975"/>
            <a:ext cx="1990500" cy="962400"/>
          </a:xfrm>
          <a:prstGeom prst="wedgeRectCallout">
            <a:avLst>
              <a:gd fmla="val 71091" name="adj1"/>
              <a:gd fmla="val -119077" name="adj2"/>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Roboto"/>
                <a:ea typeface="Roboto"/>
                <a:cs typeface="Roboto"/>
                <a:sym typeface="Roboto"/>
              </a:rPr>
              <a:t>Jaraknya 55 - 400 juta kilometer dengan delay komunikasi 3-22 menit</a:t>
            </a:r>
            <a:endParaRPr>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Komunikasi  TCP - IP socket yang umum di gunakan</a:t>
            </a:r>
            <a:endParaRPr/>
          </a:p>
        </p:txBody>
      </p:sp>
      <p:pic>
        <p:nvPicPr>
          <p:cNvPr id="101" name="Google Shape;101;p15"/>
          <p:cNvPicPr preferRelativeResize="0"/>
          <p:nvPr/>
        </p:nvPicPr>
        <p:blipFill rotWithShape="1">
          <a:blip r:embed="rId3">
            <a:alphaModFix/>
          </a:blip>
          <a:srcRect b="3402" l="9469" r="8260" t="14226"/>
          <a:stretch/>
        </p:blipFill>
        <p:spPr>
          <a:xfrm>
            <a:off x="1291403" y="1434578"/>
            <a:ext cx="6392875" cy="3196450"/>
          </a:xfrm>
          <a:prstGeom prst="rect">
            <a:avLst/>
          </a:prstGeom>
          <a:noFill/>
          <a:ln>
            <a:noFill/>
          </a:ln>
        </p:spPr>
      </p:pic>
      <p:sp>
        <p:nvSpPr>
          <p:cNvPr id="102" name="Google Shape;102;p15"/>
          <p:cNvSpPr txBox="1"/>
          <p:nvPr>
            <p:ph idx="1" type="body"/>
          </p:nvPr>
        </p:nvSpPr>
        <p:spPr>
          <a:xfrm>
            <a:off x="3021300" y="1578175"/>
            <a:ext cx="3101400" cy="1557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GB"/>
              <a:t>UDP</a:t>
            </a:r>
            <a:r>
              <a:rPr lang="en-GB"/>
              <a:t> : Datagram socket - Kirim dan lupakan</a:t>
            </a:r>
            <a:endParaRPr/>
          </a:p>
          <a:p>
            <a:pPr indent="0" lvl="0" marL="0" rtl="0" algn="l">
              <a:spcBef>
                <a:spcPts val="1200"/>
              </a:spcBef>
              <a:spcAft>
                <a:spcPts val="1200"/>
              </a:spcAft>
              <a:buNone/>
            </a:pPr>
            <a:r>
              <a:rPr b="1" lang="en-GB"/>
              <a:t>Stream Socket</a:t>
            </a:r>
            <a:r>
              <a:rPr lang="en-GB"/>
              <a:t> : Client dan Server harus binding terlebih dahulu</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Library UDP siap pakai pada sketch Arduino untuk ESP</a:t>
            </a:r>
            <a:endParaRPr/>
          </a:p>
        </p:txBody>
      </p:sp>
      <p:sp>
        <p:nvSpPr>
          <p:cNvPr id="108" name="Google Shape;108;p16"/>
          <p:cNvSpPr/>
          <p:nvPr/>
        </p:nvSpPr>
        <p:spPr>
          <a:xfrm>
            <a:off x="120650" y="1729950"/>
            <a:ext cx="2806500" cy="25002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5000"/>
              </a:lnSpc>
              <a:spcBef>
                <a:spcPts val="0"/>
              </a:spcBef>
              <a:spcAft>
                <a:spcPts val="0"/>
              </a:spcAft>
              <a:buNone/>
            </a:pPr>
            <a:r>
              <a:rPr lang="en-GB" sz="1600">
                <a:solidFill>
                  <a:schemeClr val="dk2"/>
                </a:solidFill>
                <a:latin typeface="Courier New"/>
                <a:ea typeface="Courier New"/>
                <a:cs typeface="Courier New"/>
                <a:sym typeface="Courier New"/>
              </a:rPr>
              <a:t>#include &lt;ESP8266WiFi.h&gt;</a:t>
            </a:r>
            <a:endParaRPr sz="16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600">
                <a:solidFill>
                  <a:schemeClr val="dk2"/>
                </a:solidFill>
                <a:latin typeface="Courier New"/>
                <a:ea typeface="Courier New"/>
                <a:cs typeface="Courier New"/>
                <a:sym typeface="Courier New"/>
              </a:rPr>
              <a:t>#include &lt;WiFiUdp.h&gt;</a:t>
            </a:r>
            <a:endParaRPr sz="16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600">
                <a:solidFill>
                  <a:schemeClr val="dk2"/>
                </a:solidFill>
                <a:latin typeface="Courier New"/>
                <a:ea typeface="Courier New"/>
                <a:cs typeface="Courier New"/>
                <a:sym typeface="Courier New"/>
              </a:rPr>
              <a:t>==============</a:t>
            </a:r>
            <a:endParaRPr sz="16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600">
                <a:solidFill>
                  <a:schemeClr val="dk2"/>
                </a:solidFill>
                <a:latin typeface="Courier New"/>
                <a:ea typeface="Courier New"/>
                <a:cs typeface="Courier New"/>
                <a:sym typeface="Courier New"/>
              </a:rPr>
              <a:t>Udp.begin(localPort);</a:t>
            </a:r>
            <a:endParaRPr sz="16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2000">
                <a:solidFill>
                  <a:schemeClr val="dk2"/>
                </a:solidFill>
                <a:latin typeface="Courier New"/>
                <a:ea typeface="Courier New"/>
                <a:cs typeface="Courier New"/>
                <a:sym typeface="Courier New"/>
              </a:rPr>
              <a:t>===========</a:t>
            </a:r>
            <a:endParaRPr sz="2000">
              <a:solidFill>
                <a:schemeClr val="dk2"/>
              </a:solidFill>
              <a:latin typeface="Courier New"/>
              <a:ea typeface="Courier New"/>
              <a:cs typeface="Courier New"/>
              <a:sym typeface="Courier New"/>
            </a:endParaRPr>
          </a:p>
          <a:p>
            <a:pPr indent="0" lvl="0" marL="0" rtl="0" algn="ctr">
              <a:spcBef>
                <a:spcPts val="1200"/>
              </a:spcBef>
              <a:spcAft>
                <a:spcPts val="0"/>
              </a:spcAft>
              <a:buNone/>
            </a:pPr>
            <a:r>
              <a:t/>
            </a:r>
            <a:endParaRPr>
              <a:latin typeface="Roboto"/>
              <a:ea typeface="Roboto"/>
              <a:cs typeface="Roboto"/>
              <a:sym typeface="Roboto"/>
            </a:endParaRPr>
          </a:p>
        </p:txBody>
      </p:sp>
      <p:sp>
        <p:nvSpPr>
          <p:cNvPr id="109" name="Google Shape;109;p16"/>
          <p:cNvSpPr/>
          <p:nvPr/>
        </p:nvSpPr>
        <p:spPr>
          <a:xfrm>
            <a:off x="3165250" y="1152400"/>
            <a:ext cx="5578800" cy="3571800"/>
          </a:xfrm>
          <a:prstGeom prst="rect">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5000"/>
              </a:lnSpc>
              <a:spcBef>
                <a:spcPts val="0"/>
              </a:spcBef>
              <a:spcAft>
                <a:spcPts val="0"/>
              </a:spcAft>
              <a:buNone/>
            </a:pPr>
            <a:r>
              <a:rPr lang="en-GB" sz="1500">
                <a:solidFill>
                  <a:schemeClr val="dk2"/>
                </a:solidFill>
                <a:latin typeface="Courier New"/>
                <a:ea typeface="Courier New"/>
                <a:cs typeface="Courier New"/>
                <a:sym typeface="Courier New"/>
              </a:rPr>
              <a:t>int packetSize = Udp.parsePacket();</a:t>
            </a:r>
            <a:endParaRPr sz="15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500">
                <a:solidFill>
                  <a:schemeClr val="dk2"/>
                </a:solidFill>
                <a:latin typeface="Courier New"/>
                <a:ea typeface="Courier New"/>
                <a:cs typeface="Courier New"/>
                <a:sym typeface="Courier New"/>
              </a:rPr>
              <a:t>  if (packetSize) {</a:t>
            </a:r>
            <a:endParaRPr sz="15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500">
                <a:solidFill>
                  <a:schemeClr val="dk2"/>
                </a:solidFill>
                <a:latin typeface="Courier New"/>
                <a:ea typeface="Courier New"/>
                <a:cs typeface="Courier New"/>
                <a:sym typeface="Courier New"/>
              </a:rPr>
              <a:t>    int len = Udp.read(packetBuffer, 255);</a:t>
            </a:r>
            <a:endParaRPr sz="15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500">
                <a:solidFill>
                  <a:schemeClr val="dk2"/>
                </a:solidFill>
                <a:latin typeface="Courier New"/>
                <a:ea typeface="Courier New"/>
                <a:cs typeface="Courier New"/>
                <a:sym typeface="Courier New"/>
              </a:rPr>
              <a:t>    if (len &gt; 0) {</a:t>
            </a:r>
            <a:endParaRPr sz="15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500">
                <a:solidFill>
                  <a:schemeClr val="dk2"/>
                </a:solidFill>
                <a:latin typeface="Courier New"/>
                <a:ea typeface="Courier New"/>
                <a:cs typeface="Courier New"/>
                <a:sym typeface="Courier New"/>
              </a:rPr>
              <a:t>      packetBuffer[len] = 0;</a:t>
            </a:r>
            <a:endParaRPr sz="15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500">
                <a:solidFill>
                  <a:schemeClr val="dk2"/>
                </a:solidFill>
                <a:latin typeface="Courier New"/>
                <a:ea typeface="Courier New"/>
                <a:cs typeface="Courier New"/>
                <a:sym typeface="Courier New"/>
              </a:rPr>
              <a:t>    }</a:t>
            </a:r>
            <a:endParaRPr sz="15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500">
                <a:solidFill>
                  <a:schemeClr val="dk2"/>
                </a:solidFill>
                <a:latin typeface="Courier New"/>
                <a:ea typeface="Courier New"/>
                <a:cs typeface="Courier New"/>
                <a:sym typeface="Courier New"/>
              </a:rPr>
              <a:t>Serial.printf("Diterima: %s\n", packetBuffer);</a:t>
            </a:r>
            <a:endParaRPr sz="1500">
              <a:solidFill>
                <a:schemeClr val="dk2"/>
              </a:solidFill>
              <a:latin typeface="Courier New"/>
              <a:ea typeface="Courier New"/>
              <a:cs typeface="Courier New"/>
              <a:sym typeface="Courier New"/>
            </a:endParaRPr>
          </a:p>
          <a:p>
            <a:pPr indent="0" lvl="0" marL="0" rtl="0" algn="l">
              <a:lnSpc>
                <a:spcPct val="95000"/>
              </a:lnSpc>
              <a:spcBef>
                <a:spcPts val="1200"/>
              </a:spcBef>
              <a:spcAft>
                <a:spcPts val="0"/>
              </a:spcAft>
              <a:buNone/>
            </a:pPr>
            <a:r>
              <a:rPr lang="en-GB" sz="1500">
                <a:solidFill>
                  <a:schemeClr val="dk2"/>
                </a:solidFill>
                <a:latin typeface="Courier New"/>
                <a:ea typeface="Courier New"/>
                <a:cs typeface="Courier New"/>
                <a:sym typeface="Courier New"/>
              </a:rPr>
              <a:t>  </a:t>
            </a:r>
            <a:endParaRPr sz="1500">
              <a:solidFill>
                <a:schemeClr val="dk2"/>
              </a:solidFill>
              <a:latin typeface="Courier New"/>
              <a:ea typeface="Courier New"/>
              <a:cs typeface="Courier New"/>
              <a:sym typeface="Courier New"/>
            </a:endParaRPr>
          </a:p>
          <a:p>
            <a:pPr indent="0" lvl="0" marL="0" rtl="0" algn="l">
              <a:lnSpc>
                <a:spcPct val="95000"/>
              </a:lnSpc>
              <a:spcBef>
                <a:spcPts val="1200"/>
              </a:spcBef>
              <a:spcAft>
                <a:spcPts val="1200"/>
              </a:spcAft>
              <a:buNone/>
            </a:pPr>
            <a:r>
              <a:rPr lang="en-GB" sz="1500">
                <a:solidFill>
                  <a:schemeClr val="dk2"/>
                </a:solidFill>
                <a:latin typeface="Courier New"/>
                <a:ea typeface="Courier New"/>
                <a:cs typeface="Courier New"/>
                <a:sym typeface="Courier New"/>
              </a:rPr>
              <a:t>}</a:t>
            </a:r>
            <a:endParaRPr sz="15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Chat sederhana Via UDP Terminal ke ESP8266</a:t>
            </a:r>
            <a:endParaRPr/>
          </a:p>
        </p:txBody>
      </p:sp>
      <p:pic>
        <p:nvPicPr>
          <p:cNvPr id="115" name="Google Shape;115;p17" title="Screenshot_2026-04-13-08-21-32-58.jpg"/>
          <p:cNvPicPr preferRelativeResize="0"/>
          <p:nvPr/>
        </p:nvPicPr>
        <p:blipFill rotWithShape="1">
          <a:blip r:embed="rId3">
            <a:alphaModFix/>
          </a:blip>
          <a:srcRect b="40331" l="0" r="9731" t="0"/>
          <a:stretch/>
        </p:blipFill>
        <p:spPr>
          <a:xfrm>
            <a:off x="311700" y="1502600"/>
            <a:ext cx="2053600" cy="2865876"/>
          </a:xfrm>
          <a:prstGeom prst="rect">
            <a:avLst/>
          </a:prstGeom>
          <a:noFill/>
          <a:ln>
            <a:noFill/>
          </a:ln>
        </p:spPr>
      </p:pic>
      <p:pic>
        <p:nvPicPr>
          <p:cNvPr id="116" name="Google Shape;116;p17" title="Screenshot_2026-04-13-08-21-21-70.jpg"/>
          <p:cNvPicPr preferRelativeResize="0"/>
          <p:nvPr/>
        </p:nvPicPr>
        <p:blipFill rotWithShape="1">
          <a:blip r:embed="rId4">
            <a:alphaModFix/>
          </a:blip>
          <a:srcRect b="34512" l="0" r="0" t="0"/>
          <a:stretch/>
        </p:blipFill>
        <p:spPr>
          <a:xfrm>
            <a:off x="1782925" y="1181100"/>
            <a:ext cx="2391975" cy="3307049"/>
          </a:xfrm>
          <a:prstGeom prst="rect">
            <a:avLst/>
          </a:prstGeom>
          <a:noFill/>
          <a:ln>
            <a:noFill/>
          </a:ln>
        </p:spPr>
      </p:pic>
      <p:pic>
        <p:nvPicPr>
          <p:cNvPr id="117" name="Google Shape;117;p17" title="chat_UDP.png"/>
          <p:cNvPicPr preferRelativeResize="0"/>
          <p:nvPr/>
        </p:nvPicPr>
        <p:blipFill>
          <a:blip r:embed="rId5">
            <a:alphaModFix/>
          </a:blip>
          <a:stretch>
            <a:fillRect/>
          </a:stretch>
        </p:blipFill>
        <p:spPr>
          <a:xfrm>
            <a:off x="3833025" y="1432125"/>
            <a:ext cx="5134524" cy="2441825"/>
          </a:xfrm>
          <a:prstGeom prst="rect">
            <a:avLst/>
          </a:prstGeom>
          <a:noFill/>
          <a:ln>
            <a:noFill/>
          </a:ln>
        </p:spPr>
      </p:pic>
      <p:sp>
        <p:nvSpPr>
          <p:cNvPr id="118" name="Google Shape;118;p17"/>
          <p:cNvSpPr txBox="1"/>
          <p:nvPr/>
        </p:nvSpPr>
        <p:spPr>
          <a:xfrm>
            <a:off x="4340375" y="4114925"/>
            <a:ext cx="2589300" cy="6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 Gunakan koding : UDP_chat.ino</a:t>
            </a:r>
            <a:endParaRPr sz="1800">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Praktek Mengirim Perintah via UDP terminal</a:t>
            </a:r>
            <a:endParaRPr/>
          </a:p>
        </p:txBody>
      </p:sp>
      <p:sp>
        <p:nvSpPr>
          <p:cNvPr id="124" name="Google Shape;124;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GB"/>
              <a:t>Persiapkan wifi router TPlink dengan seting yang tetap, dan hubungkan smartphone ke AP bernama : PraktikumMikro, pass : pr4ktikum</a:t>
            </a:r>
            <a:endParaRPr/>
          </a:p>
          <a:p>
            <a:pPr indent="-342900" lvl="0" marL="457200" rtl="0" algn="l">
              <a:spcBef>
                <a:spcPts val="0"/>
              </a:spcBef>
              <a:spcAft>
                <a:spcPts val="0"/>
              </a:spcAft>
              <a:buSzPts val="1800"/>
              <a:buAutoNum type="arabicPeriod"/>
            </a:pPr>
            <a:r>
              <a:rPr lang="en-GB"/>
              <a:t>Unduh aplikasi “UDP TERMINAL”  di smartphone android dan dengan seting seperti pada gambar sebelumnya. </a:t>
            </a:r>
            <a:endParaRPr/>
          </a:p>
          <a:p>
            <a:pPr indent="-342900" lvl="0" marL="457200" rtl="0" algn="l">
              <a:spcBef>
                <a:spcPts val="0"/>
              </a:spcBef>
              <a:spcAft>
                <a:spcPts val="0"/>
              </a:spcAft>
              <a:buSzPts val="1800"/>
              <a:buAutoNum type="arabicPeriod"/>
            </a:pPr>
            <a:r>
              <a:rPr lang="en-GB"/>
              <a:t>Koding yg dikapai ada di gambar, IP tiap kelompok tolong dibedakan</a:t>
            </a:r>
            <a:endParaRPr/>
          </a:p>
          <a:p>
            <a:pPr indent="-342900" lvl="0" marL="457200" rtl="0" algn="l">
              <a:spcBef>
                <a:spcPts val="0"/>
              </a:spcBef>
              <a:spcAft>
                <a:spcPts val="0"/>
              </a:spcAft>
              <a:buSzPts val="1800"/>
              <a:buAutoNum type="arabicPeriod"/>
            </a:pPr>
            <a:r>
              <a:rPr lang="en-GB"/>
              <a:t>Lakukan chat masing2 kelompok  dari smartphone ke esp8266</a:t>
            </a:r>
            <a:endParaRPr/>
          </a:p>
          <a:p>
            <a:pPr indent="-342900" lvl="0" marL="457200" rtl="0" algn="l">
              <a:spcBef>
                <a:spcPts val="0"/>
              </a:spcBef>
              <a:spcAft>
                <a:spcPts val="0"/>
              </a:spcAft>
              <a:buSzPts val="1800"/>
              <a:buAutoNum type="arabicPeriod"/>
            </a:pPr>
            <a:r>
              <a:rPr lang="en-GB"/>
              <a:t>Persiapkan kendaraan remote kontrol beserta ESP8266 yang sudah di unduhkan koding dengan nama UDP_remote.ino</a:t>
            </a:r>
            <a:endParaRPr/>
          </a:p>
          <a:p>
            <a:pPr indent="-342900" lvl="0" marL="457200" rtl="0" algn="l">
              <a:spcBef>
                <a:spcPts val="0"/>
              </a:spcBef>
              <a:spcAft>
                <a:spcPts val="0"/>
              </a:spcAft>
              <a:buSzPts val="1800"/>
              <a:buAutoNum type="arabicPeriod"/>
            </a:pPr>
            <a:r>
              <a:rPr lang="en-GB"/>
              <a:t>Kirimkan text perintah : 0= berhenti, 1 = maju, 2 = mundur, 3 = belok kiri 4= Belok kanan</a:t>
            </a:r>
            <a:endParaRPr/>
          </a:p>
          <a:p>
            <a:pPr indent="-342900" lvl="0" marL="457200" rtl="0" algn="l">
              <a:spcBef>
                <a:spcPts val="0"/>
              </a:spcBef>
              <a:spcAft>
                <a:spcPts val="0"/>
              </a:spcAft>
              <a:buSzPts val="1800"/>
              <a:buAutoNum type="arabicPeriod"/>
            </a:pPr>
            <a:r>
              <a:rPr lang="en-GB"/>
              <a:t>Rekam tiap kegiatan karena akan dikumpulkan menjadi 1 video youtube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Membungkus Remote ke APK Native Android</a:t>
            </a:r>
            <a:endParaRPr/>
          </a:p>
        </p:txBody>
      </p:sp>
      <p:sp>
        <p:nvSpPr>
          <p:cNvPr id="130" name="Google Shape;130;p19"/>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AutoNum type="arabicPeriod"/>
            </a:pPr>
            <a:r>
              <a:rPr lang="en-GB" sz="2200"/>
              <a:t>Bisa menggunakan aplikasi paling gampang yaitu “Web2APK” dimana layar dari remote berbasis webserver (pada praktikum 2) dimasukkan sebagai web address yang akan di akses aplikasi Android yang dibuat package nya (apk)</a:t>
            </a:r>
            <a:endParaRPr sz="2200"/>
          </a:p>
          <a:p>
            <a:pPr indent="-368300" lvl="0" marL="457200" rtl="0" algn="l">
              <a:spcBef>
                <a:spcPts val="0"/>
              </a:spcBef>
              <a:spcAft>
                <a:spcPts val="0"/>
              </a:spcAft>
              <a:buSzPts val="2200"/>
              <a:buAutoNum type="arabicPeriod"/>
            </a:pPr>
            <a:r>
              <a:rPr lang="en-GB" sz="2200"/>
              <a:t>Menggunakan aplikasi android builder yang cukup sederhana berbasis blocks yaitu MIT APP INVENTOR - KODULAR</a:t>
            </a:r>
            <a:endParaRPr sz="2200"/>
          </a:p>
          <a:p>
            <a:pPr indent="-368300" lvl="0" marL="457200" rtl="0" algn="l">
              <a:spcBef>
                <a:spcPts val="0"/>
              </a:spcBef>
              <a:spcAft>
                <a:spcPts val="0"/>
              </a:spcAft>
              <a:buSzPts val="2200"/>
              <a:buAutoNum type="arabicPeriod"/>
            </a:pPr>
            <a:r>
              <a:rPr lang="en-GB" sz="2200"/>
              <a:t>Bila mempunyai kemampuan koding serta PC yang cukup kencang silahkan gunakan applikasi Android  Studio</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MIT APP INVENTOR - Remote UDP (perkenalan saja)</a:t>
            </a:r>
            <a:endParaRPr/>
          </a:p>
        </p:txBody>
      </p:sp>
      <p:pic>
        <p:nvPicPr>
          <p:cNvPr id="136" name="Google Shape;136;p20" title="mit_app1.png"/>
          <p:cNvPicPr preferRelativeResize="0"/>
          <p:nvPr/>
        </p:nvPicPr>
        <p:blipFill>
          <a:blip r:embed="rId3">
            <a:alphaModFix/>
          </a:blip>
          <a:stretch>
            <a:fillRect/>
          </a:stretch>
        </p:blipFill>
        <p:spPr>
          <a:xfrm>
            <a:off x="1000425" y="1106425"/>
            <a:ext cx="7143141" cy="3820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MIT APP INVENTOR - Remote UDP - Blocks</a:t>
            </a:r>
            <a:endParaRPr/>
          </a:p>
        </p:txBody>
      </p:sp>
      <p:pic>
        <p:nvPicPr>
          <p:cNvPr id="142" name="Google Shape;142;p21" title="mit_app2.png"/>
          <p:cNvPicPr preferRelativeResize="0"/>
          <p:nvPr/>
        </p:nvPicPr>
        <p:blipFill>
          <a:blip r:embed="rId3">
            <a:alphaModFix/>
          </a:blip>
          <a:stretch>
            <a:fillRect/>
          </a:stretch>
        </p:blipFill>
        <p:spPr>
          <a:xfrm>
            <a:off x="619725" y="1017800"/>
            <a:ext cx="8085060" cy="3820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Python - TCP/IP (UDP) - ESP8266 - Mobil RC</a:t>
            </a:r>
            <a:endParaRPr/>
          </a:p>
        </p:txBody>
      </p:sp>
      <p:pic>
        <p:nvPicPr>
          <p:cNvPr id="148" name="Google Shape;148;p22" title="udp_python.png"/>
          <p:cNvPicPr preferRelativeResize="0"/>
          <p:nvPr/>
        </p:nvPicPr>
        <p:blipFill>
          <a:blip r:embed="rId3">
            <a:alphaModFix/>
          </a:blip>
          <a:stretch>
            <a:fillRect/>
          </a:stretch>
        </p:blipFill>
        <p:spPr>
          <a:xfrm>
            <a:off x="1309000" y="1102175"/>
            <a:ext cx="6090136" cy="38209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Prasyarat Praktek : PC mempunyai python env </a:t>
            </a:r>
            <a:endParaRPr/>
          </a:p>
        </p:txBody>
      </p:sp>
      <p:sp>
        <p:nvSpPr>
          <p:cNvPr id="154" name="Google Shape;154;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Gunakan IDE python </a:t>
            </a:r>
            <a:r>
              <a:rPr lang="en-GB"/>
              <a:t>seperti</a:t>
            </a:r>
            <a:r>
              <a:rPr lang="en-GB"/>
              <a:t> visual studio, pycharm atau yang sederhana “Thonny” silahkan download di thonny.org</a:t>
            </a:r>
            <a:endParaRPr/>
          </a:p>
          <a:p>
            <a:pPr indent="-342900" lvl="0" marL="457200" rtl="0" algn="l">
              <a:spcBef>
                <a:spcPts val="0"/>
              </a:spcBef>
              <a:spcAft>
                <a:spcPts val="0"/>
              </a:spcAft>
              <a:buSzPts val="1800"/>
              <a:buAutoNum type="arabicPeriod"/>
            </a:pPr>
            <a:r>
              <a:rPr lang="en-GB"/>
              <a:t>Library yang digunakan : “socket” ( untuk mengelola perintah UDP) serta “pynput” untuk menerima inputan dari keyboard (install via pip jika belum tersedia)</a:t>
            </a:r>
            <a:endParaRPr/>
          </a:p>
          <a:p>
            <a:pPr indent="-342900" lvl="0" marL="457200" rtl="0" algn="l">
              <a:spcBef>
                <a:spcPts val="0"/>
              </a:spcBef>
              <a:spcAft>
                <a:spcPts val="0"/>
              </a:spcAft>
              <a:buSzPts val="1800"/>
              <a:buAutoNum type="arabicPeriod"/>
            </a:pPr>
            <a:r>
              <a:rPr lang="en-GB"/>
              <a:t>Sesuaikan kondisi kendaraan RC untuk tiap kelompok </a:t>
            </a:r>
            <a:endParaRPr/>
          </a:p>
          <a:p>
            <a:pPr indent="-342900" lvl="0" marL="457200" rtl="0" algn="l">
              <a:spcBef>
                <a:spcPts val="0"/>
              </a:spcBef>
              <a:spcAft>
                <a:spcPts val="0"/>
              </a:spcAft>
              <a:buSzPts val="1800"/>
              <a:buAutoNum type="arabicPeriod"/>
            </a:pPr>
            <a:r>
              <a:rPr lang="en-GB"/>
              <a:t>Jalankan koding python udp_remote_undiksha.py dan gunakan tombol panah untuk menggerakkan kendaraan RC</a:t>
            </a:r>
            <a:endParaRPr/>
          </a:p>
          <a:p>
            <a:pPr indent="-342900" lvl="0" marL="457200" rtl="0" algn="l">
              <a:spcBef>
                <a:spcPts val="0"/>
              </a:spcBef>
              <a:spcAft>
                <a:spcPts val="0"/>
              </a:spcAft>
              <a:buSzPts val="1800"/>
              <a:buAutoNum type="arabicPeriod"/>
            </a:pPr>
            <a:r>
              <a:rPr lang="en-GB"/>
              <a:t>Rekam semua kegiatan karena akan dikumpulkan dalam 1 video youtube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Contoh praktek remote UDP dalam video</a:t>
            </a:r>
            <a:endParaRPr/>
          </a:p>
        </p:txBody>
      </p:sp>
      <p:pic>
        <p:nvPicPr>
          <p:cNvPr descr="bersama mahasiswa undiksha" id="160" name="Google Shape;160;p24" title="Praktek Remote Android ke Mobil RC">
            <a:hlinkClick r:id="rId3"/>
          </p:cNvPr>
          <p:cNvPicPr preferRelativeResize="0"/>
          <p:nvPr/>
        </p:nvPicPr>
        <p:blipFill>
          <a:blip r:embed="rId4">
            <a:alphaModFix/>
          </a:blip>
          <a:stretch>
            <a:fillRect/>
          </a:stretch>
        </p:blipFill>
        <p:spPr>
          <a:xfrm>
            <a:off x="3165250" y="1170200"/>
            <a:ext cx="2687425" cy="3554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